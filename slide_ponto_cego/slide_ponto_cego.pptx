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0880" y="548640"/>
            <a:ext cx="4064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spc="160">
                <a:solidFill>
                  <a:srgbClr val="6A2F74"/>
                </a:solidFill>
                <a:latin typeface="Lato"/>
              </a:rPr>
              <a:t>O PONTO CEGO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0880" y="802640"/>
            <a:ext cx="71120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7143"/>
              </a:lnSpc>
            </a:pPr>
            <a:r>
              <a:rPr sz="3360" b="1">
                <a:solidFill>
                  <a:srgbClr val="17141B"/>
                </a:solidFill>
                <a:latin typeface="Lato"/>
              </a:rPr>
              <a:t>O problema quase nunca é o EPI. É a fiscalização do uso.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880" y="1950720"/>
            <a:ext cx="2489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" b="1" spc="111">
                <a:solidFill>
                  <a:srgbClr val="847D8B"/>
                </a:solidFill>
                <a:latin typeface="Lato"/>
              </a:rPr>
              <a:t>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880" y="2072640"/>
            <a:ext cx="24892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80" b="0">
                <a:solidFill>
                  <a:srgbClr val="6A2F74"/>
                </a:solidFill>
                <a:latin typeface="Lato"/>
              </a:rPr>
              <a:t>806.011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880" y="2844800"/>
            <a:ext cx="2489200" cy="447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6667"/>
              </a:lnSpc>
            </a:pPr>
            <a:r>
              <a:rPr sz="1200" b="0">
                <a:solidFill>
                  <a:srgbClr val="4C4652"/>
                </a:solidFill>
                <a:latin typeface="Lato"/>
              </a:rPr>
              <a:t>acidentes de trabalho registrados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880" y="3312160"/>
            <a:ext cx="2489200" cy="447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6154"/>
              </a:lnSpc>
            </a:pPr>
            <a:r>
              <a:rPr sz="1040" b="0">
                <a:solidFill>
                  <a:srgbClr val="847D8B"/>
                </a:solidFill>
                <a:latin typeface="Lato"/>
              </a:rPr>
              <a:t>recorde da série histórica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35960" y="1971040"/>
            <a:ext cx="8128" cy="1808480"/>
          </a:xfrm>
          <a:prstGeom prst="rect">
            <a:avLst/>
          </a:prstGeom>
          <a:solidFill>
            <a:srgbClr val="DDD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98520" y="1950720"/>
            <a:ext cx="2489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" b="1" spc="111">
                <a:solidFill>
                  <a:srgbClr val="847D8B"/>
                </a:solidFill>
                <a:latin typeface="Lato"/>
              </a:rPr>
              <a:t>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98520" y="2072640"/>
            <a:ext cx="24892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80" b="0">
                <a:solidFill>
                  <a:srgbClr val="6A2F74"/>
                </a:solidFill>
                <a:latin typeface="Lato"/>
              </a:rPr>
              <a:t>3.644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8520" y="2844800"/>
            <a:ext cx="2489200" cy="447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6667"/>
              </a:lnSpc>
            </a:pPr>
            <a:r>
              <a:rPr sz="1200" b="0">
                <a:solidFill>
                  <a:srgbClr val="4C4652"/>
                </a:solidFill>
                <a:latin typeface="Lato"/>
              </a:rPr>
              <a:t>mortes por acidente de trabalho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8520" y="3312160"/>
            <a:ext cx="2489200" cy="447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6154"/>
              </a:lnSpc>
            </a:pPr>
            <a:r>
              <a:rPr sz="1040" b="0">
                <a:solidFill>
                  <a:srgbClr val="847D8B"/>
                </a:solidFill>
                <a:latin typeface="Lato"/>
              </a:rPr>
              <a:t>uma morte notificada a cada 2h24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971040"/>
            <a:ext cx="8128" cy="1808480"/>
          </a:xfrm>
          <a:prstGeom prst="rect">
            <a:avLst/>
          </a:prstGeom>
          <a:solidFill>
            <a:srgbClr val="DDD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06160" y="1950720"/>
            <a:ext cx="2489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" b="1" spc="111">
                <a:solidFill>
                  <a:srgbClr val="847D8B"/>
                </a:solidFill>
                <a:latin typeface="Lato"/>
              </a:rPr>
              <a:t>2012–2024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6160" y="2072640"/>
            <a:ext cx="24892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80" b="0">
                <a:solidFill>
                  <a:srgbClr val="6A2F74"/>
                </a:solidFill>
                <a:latin typeface="Lato"/>
              </a:rPr>
              <a:t>13,6</a:t>
            </a:r>
            <a:r>
              <a:rPr sz="1920" b="0">
                <a:solidFill>
                  <a:srgbClr val="6A2F74"/>
                </a:solidFill>
                <a:latin typeface="Lato"/>
              </a:rPr>
              <a:t>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06160" y="2844800"/>
            <a:ext cx="2489200" cy="447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6667"/>
              </a:lnSpc>
            </a:pPr>
            <a:r>
              <a:rPr sz="1200" b="0">
                <a:solidFill>
                  <a:srgbClr val="4C4652"/>
                </a:solidFill>
                <a:latin typeface="Lato"/>
              </a:rPr>
              <a:t>dos acidentes têm máquina ou equipamento como agente causador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06160" y="3312160"/>
            <a:ext cx="2489200" cy="447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6154"/>
              </a:lnSpc>
            </a:pPr>
            <a:r>
              <a:rPr sz="1040" b="0">
                <a:solidFill>
                  <a:srgbClr val="847D8B"/>
                </a:solidFill>
                <a:latin typeface="Lato"/>
              </a:rPr>
              <a:t>amputam 15× mais e matam 3× mais que os demais agentes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51240" y="1971040"/>
            <a:ext cx="8128" cy="1808480"/>
          </a:xfrm>
          <a:prstGeom prst="rect">
            <a:avLst/>
          </a:prstGeom>
          <a:solidFill>
            <a:srgbClr val="DDD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13800" y="1950720"/>
            <a:ext cx="2489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" b="1" spc="111">
                <a:solidFill>
                  <a:srgbClr val="847D8B"/>
                </a:solidFill>
                <a:latin typeface="Lato"/>
              </a:rPr>
              <a:t>2012–2024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13800" y="2072640"/>
            <a:ext cx="24892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80" b="0">
                <a:solidFill>
                  <a:srgbClr val="6A2F74"/>
                </a:solidFill>
                <a:latin typeface="Lato"/>
              </a:rPr>
              <a:t>5,1</a:t>
            </a:r>
            <a:r>
              <a:rPr sz="1920" b="0">
                <a:solidFill>
                  <a:srgbClr val="6A2F74"/>
                </a:solidFill>
                <a:latin typeface="Lato"/>
              </a:rPr>
              <a:t>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13800" y="2844800"/>
            <a:ext cx="2489200" cy="447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6667"/>
              </a:lnSpc>
            </a:pPr>
            <a:r>
              <a:rPr sz="1200" b="0">
                <a:solidFill>
                  <a:srgbClr val="4C4652"/>
                </a:solidFill>
                <a:latin typeface="Lato"/>
              </a:rPr>
              <a:t>dos afastamentos são de alimentador de linha de produção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13800" y="3312160"/>
            <a:ext cx="2489200" cy="447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6154"/>
              </a:lnSpc>
            </a:pPr>
            <a:r>
              <a:rPr sz="1040" b="0">
                <a:solidFill>
                  <a:srgbClr val="847D8B"/>
                </a:solidFill>
                <a:latin typeface="Lato"/>
              </a:rPr>
              <a:t>a ocupação que mais afasta no país; motorista vem em 2º, com 3,7%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1360" y="4064000"/>
            <a:ext cx="10779760" cy="1300480"/>
          </a:xfrm>
          <a:prstGeom prst="rect">
            <a:avLst/>
          </a:prstGeom>
          <a:solidFill>
            <a:srgbClr val="F2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0880" y="4064000"/>
            <a:ext cx="30480" cy="1300480"/>
          </a:xfrm>
          <a:prstGeom prst="rect">
            <a:avLst/>
          </a:prstGeom>
          <a:solidFill>
            <a:srgbClr val="6A2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6800" y="4287520"/>
            <a:ext cx="10048240" cy="894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6667"/>
              </a:lnSpc>
            </a:pPr>
            <a:r>
              <a:rPr sz="1440" b="0">
                <a:solidFill>
                  <a:srgbClr val="4C4652"/>
                </a:solidFill>
                <a:latin typeface="Lato"/>
              </a:rPr>
              <a:t>A NR-6 é direta: cabe ao empregador </a:t>
            </a:r>
            <a:r>
              <a:rPr sz="1440" b="1">
                <a:solidFill>
                  <a:srgbClr val="17141B"/>
                </a:solidFill>
                <a:latin typeface="Lato"/>
              </a:rPr>
              <a:t>“exigir seu uso”</a:t>
            </a:r>
            <a:r>
              <a:rPr sz="1440" b="0">
                <a:solidFill>
                  <a:srgbClr val="4C4652"/>
                </a:solidFill>
                <a:latin typeface="Lato"/>
              </a:rPr>
              <a:t> (item 6.6.1, alínea “b”) — sem ressalva para as horas em que ninguém está olhando. Na prática, a verificação é amostral: acontece nos minutos em que alguém do SESMT passa pelo local. </a:t>
            </a:r>
            <a:r>
              <a:rPr sz="1440" b="1">
                <a:solidFill>
                  <a:srgbClr val="17141B"/>
                </a:solidFill>
                <a:latin typeface="Lato"/>
              </a:rPr>
              <a:t>O resto do turno é ponto cego.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880" y="5608320"/>
            <a:ext cx="10810240" cy="40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60" b="0">
                <a:solidFill>
                  <a:srgbClr val="847D8B"/>
                </a:solidFill>
                <a:latin typeface="Lato"/>
              </a:rPr>
              <a:t>Fontes: MTE, estudo técnico “Acidentes do trabalho no Brasil — 2016 a 2025” (abr/2026; base INSS e eSocial), para o total de 2025. Observatório de SST — SmartLab (MPT/OIT), série 2012–2024, para agente causador e ocupação. NR-6, item 6.6.1. Em 2025 o volume absoluto é recorde, enquanto a taxa de CAT caiu de 29,39 (2016) para 17,94 — efeito do crescimento do emprego formal.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0880" y="6299200"/>
            <a:ext cx="10810240" cy="8128"/>
          </a:xfrm>
          <a:prstGeom prst="rect">
            <a:avLst/>
          </a:prstGeom>
          <a:solidFill>
            <a:srgbClr val="DDD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0880" y="647192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20" b="0" spc="111">
                <a:solidFill>
                  <a:srgbClr val="847D8B"/>
                </a:solidFill>
                <a:latin typeface="Lato"/>
              </a:rPr>
              <a:t>VERIFICAÇÃO AUTOMÁTICA DE EPI · CELLVISION (VAIDIO)</a:t>
            </a:r>
          </a:p>
        </p:txBody>
      </p:sp>
      <p:pic>
        <p:nvPicPr>
          <p:cNvPr id="29" name="Picture 28" descr="logo sem fund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0240" y="6410960"/>
            <a:ext cx="486820" cy="3251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358880" y="6471920"/>
            <a:ext cx="30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20" b="0">
                <a:solidFill>
                  <a:srgbClr val="C5C1C8"/>
                </a:solidFill>
                <a:latin typeface="Lato"/>
              </a:rPr>
              <a:t>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